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9f3b2577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9f3b2577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9f3b2577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9f3b2577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9f3b2577e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9f3b2577e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9f3b2577e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9f3b2577e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9f3b2577e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9f3b2577e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9f3b2577e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9f3b2577e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D4D4D"/>
            </a:gs>
            <a:gs pos="100000">
              <a:srgbClr val="000000"/>
            </a:gs>
          </a:gsLst>
          <a:lin ang="5400012" scaled="0"/>
        </a:gra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440100" y="1460625"/>
            <a:ext cx="80607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</a:rPr>
              <a:t>CSSM502 Final Project: Sources of Meaning Extraction from Historical Diary Data</a:t>
            </a:r>
            <a:endParaRPr sz="2600">
              <a:solidFill>
                <a:schemeClr val="lt1"/>
              </a:solidFill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535650" y="3779800"/>
            <a:ext cx="7869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2"/>
                </a:solidFill>
              </a:rPr>
              <a:t>Berke Elibol</a:t>
            </a:r>
            <a:endParaRPr sz="17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D4D4D"/>
            </a:gs>
            <a:gs pos="100000">
              <a:srgbClr val="000000"/>
            </a:gs>
          </a:gsLst>
          <a:lin ang="5400012" scaled="0"/>
        </a:gra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440100" y="351500"/>
            <a:ext cx="8060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The Aim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545200" y="1133450"/>
            <a:ext cx="7869600" cy="22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2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Char char="●"/>
            </a:pPr>
            <a:r>
              <a:rPr lang="en" sz="1700">
                <a:solidFill>
                  <a:schemeClr val="lt2"/>
                </a:solidFill>
              </a:rPr>
              <a:t>Psychological constructs can be studied with rich text data</a:t>
            </a:r>
            <a:endParaRPr sz="1700">
              <a:solidFill>
                <a:schemeClr val="lt2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Char char="●"/>
            </a:pPr>
            <a:r>
              <a:rPr lang="en" sz="1700">
                <a:solidFill>
                  <a:schemeClr val="lt2"/>
                </a:solidFill>
              </a:rPr>
              <a:t>Machine learning is hard to do for this task:</a:t>
            </a:r>
            <a:endParaRPr sz="1700">
              <a:solidFill>
                <a:schemeClr val="lt2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Char char="○"/>
            </a:pPr>
            <a:r>
              <a:rPr lang="en" sz="1700">
                <a:solidFill>
                  <a:schemeClr val="lt2"/>
                </a:solidFill>
              </a:rPr>
              <a:t>Psychologically rich data is small in quantity</a:t>
            </a:r>
            <a:endParaRPr sz="1700">
              <a:solidFill>
                <a:schemeClr val="lt2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Char char="○"/>
            </a:pPr>
            <a:r>
              <a:rPr lang="en" sz="1700">
                <a:solidFill>
                  <a:schemeClr val="lt2"/>
                </a:solidFill>
              </a:rPr>
              <a:t>Text data large enough for ML is psychologically superficial</a:t>
            </a:r>
            <a:endParaRPr sz="1700">
              <a:solidFill>
                <a:schemeClr val="lt2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Char char="●"/>
            </a:pPr>
            <a:r>
              <a:rPr lang="en" sz="1700">
                <a:solidFill>
                  <a:schemeClr val="lt2"/>
                </a:solidFill>
              </a:rPr>
              <a:t>To solve this issue, I use historical diaries of Henry David Thoreau</a:t>
            </a:r>
            <a:endParaRPr sz="17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D4D4D"/>
            </a:gs>
            <a:gs pos="100000">
              <a:srgbClr val="000000"/>
            </a:gs>
          </a:gsLst>
          <a:lin ang="5400012" scaled="0"/>
        </a:gra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/>
        </p:nvSpPr>
        <p:spPr>
          <a:xfrm>
            <a:off x="440100" y="351500"/>
            <a:ext cx="8060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Data of Henry David Thoreau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545200" y="1133450"/>
            <a:ext cx="78696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2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Char char="●"/>
            </a:pPr>
            <a:r>
              <a:rPr lang="en" sz="1700">
                <a:solidFill>
                  <a:schemeClr val="lt2"/>
                </a:solidFill>
              </a:rPr>
              <a:t>Wrote diaries on and off from 1838 to 1861.</a:t>
            </a:r>
            <a:endParaRPr sz="1700">
              <a:solidFill>
                <a:schemeClr val="lt2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Char char="●"/>
            </a:pPr>
            <a:r>
              <a:rPr lang="en" sz="1700">
                <a:solidFill>
                  <a:schemeClr val="lt2"/>
                </a:solidFill>
              </a:rPr>
              <a:t>Around 14 Volumes and mostly well-dated</a:t>
            </a:r>
            <a:endParaRPr sz="1700">
              <a:solidFill>
                <a:schemeClr val="lt2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Char char="●"/>
            </a:pPr>
            <a:r>
              <a:rPr lang="en" sz="1700">
                <a:solidFill>
                  <a:schemeClr val="lt2"/>
                </a:solidFill>
              </a:rPr>
              <a:t>After cleaning and preparation, the final data is around 10000 lines</a:t>
            </a:r>
            <a:endParaRPr sz="17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D4D4D"/>
            </a:gs>
            <a:gs pos="100000">
              <a:srgbClr val="000000"/>
            </a:gs>
          </a:gsLst>
          <a:lin ang="5400012" scaled="0"/>
        </a:gra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/>
        </p:nvSpPr>
        <p:spPr>
          <a:xfrm>
            <a:off x="440100" y="351500"/>
            <a:ext cx="8060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 5 Sources of Meaning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73" name="Google Shape;73;p16"/>
          <p:cNvSpPr txBox="1"/>
          <p:nvPr/>
        </p:nvSpPr>
        <p:spPr>
          <a:xfrm>
            <a:off x="545200" y="1133450"/>
            <a:ext cx="7869600" cy="22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2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Char char="●"/>
            </a:pPr>
            <a:r>
              <a:rPr lang="en" sz="1700">
                <a:solidFill>
                  <a:schemeClr val="lt2"/>
                </a:solidFill>
              </a:rPr>
              <a:t>Vertical Self-Transcendence </a:t>
            </a:r>
            <a:endParaRPr sz="1700">
              <a:solidFill>
                <a:schemeClr val="lt2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Char char="●"/>
            </a:pPr>
            <a:r>
              <a:rPr lang="en" sz="1700">
                <a:solidFill>
                  <a:schemeClr val="lt2"/>
                </a:solidFill>
              </a:rPr>
              <a:t>Horizontal Self-Transcendence</a:t>
            </a:r>
            <a:endParaRPr sz="1700">
              <a:solidFill>
                <a:schemeClr val="lt2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Char char="●"/>
            </a:pPr>
            <a:r>
              <a:rPr lang="en" sz="1700">
                <a:solidFill>
                  <a:schemeClr val="lt2"/>
                </a:solidFill>
              </a:rPr>
              <a:t>Self-Actualization</a:t>
            </a:r>
            <a:endParaRPr sz="1700">
              <a:solidFill>
                <a:schemeClr val="lt2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Char char="●"/>
            </a:pPr>
            <a:r>
              <a:rPr lang="en" sz="1700">
                <a:solidFill>
                  <a:schemeClr val="lt2"/>
                </a:solidFill>
              </a:rPr>
              <a:t>Order</a:t>
            </a:r>
            <a:endParaRPr sz="1700">
              <a:solidFill>
                <a:schemeClr val="lt2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Char char="●"/>
            </a:pPr>
            <a:r>
              <a:rPr lang="en" sz="1700">
                <a:solidFill>
                  <a:schemeClr val="lt2"/>
                </a:solidFill>
              </a:rPr>
              <a:t>Wellbeing and Relatedness</a:t>
            </a:r>
            <a:endParaRPr sz="17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D4D4D"/>
            </a:gs>
            <a:gs pos="100000">
              <a:srgbClr val="000000"/>
            </a:gs>
          </a:gsLst>
          <a:lin ang="5400012" scaled="0"/>
        </a:gra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440100" y="351500"/>
            <a:ext cx="8060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The Model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545200" y="1133450"/>
            <a:ext cx="7869600" cy="22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2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Char char="●"/>
            </a:pPr>
            <a:r>
              <a:rPr lang="en" sz="1700">
                <a:solidFill>
                  <a:schemeClr val="lt2"/>
                </a:solidFill>
              </a:rPr>
              <a:t>SetFit</a:t>
            </a:r>
            <a:endParaRPr sz="1700">
              <a:solidFill>
                <a:schemeClr val="lt2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Char char="●"/>
            </a:pPr>
            <a:r>
              <a:rPr lang="en" sz="1700">
                <a:solidFill>
                  <a:schemeClr val="lt2"/>
                </a:solidFill>
              </a:rPr>
              <a:t>Few-shot learning</a:t>
            </a:r>
            <a:endParaRPr sz="1700">
              <a:solidFill>
                <a:schemeClr val="lt2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Char char="●"/>
            </a:pPr>
            <a:r>
              <a:rPr lang="en" sz="1700">
                <a:solidFill>
                  <a:schemeClr val="lt2"/>
                </a:solidFill>
              </a:rPr>
              <a:t>After the manual labeling of around 50 data points, the model is run.</a:t>
            </a:r>
            <a:endParaRPr sz="1700">
              <a:solidFill>
                <a:schemeClr val="lt2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Char char="●"/>
            </a:pPr>
            <a:r>
              <a:rPr lang="en" sz="1700">
                <a:solidFill>
                  <a:schemeClr val="lt2"/>
                </a:solidFill>
              </a:rPr>
              <a:t>Data points with lowest scores are manually relabeled, and the model is retrained</a:t>
            </a:r>
            <a:endParaRPr sz="1700">
              <a:solidFill>
                <a:schemeClr val="lt2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Char char="●"/>
            </a:pPr>
            <a:r>
              <a:rPr lang="en" sz="1700">
                <a:solidFill>
                  <a:schemeClr val="lt2"/>
                </a:solidFill>
              </a:rPr>
              <a:t>This iteration is repeated a few times.</a:t>
            </a:r>
            <a:endParaRPr sz="17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D4D4D"/>
            </a:gs>
            <a:gs pos="100000">
              <a:srgbClr val="000000"/>
            </a:gs>
          </a:gsLst>
          <a:lin ang="5400012" scaled="0"/>
        </a:gra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/>
        </p:nvSpPr>
        <p:spPr>
          <a:xfrm>
            <a:off x="440100" y="351500"/>
            <a:ext cx="8060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The Next Steps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85" name="Google Shape;85;p18"/>
          <p:cNvSpPr txBox="1"/>
          <p:nvPr/>
        </p:nvSpPr>
        <p:spPr>
          <a:xfrm>
            <a:off x="535650" y="908850"/>
            <a:ext cx="7869600" cy="37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2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Char char="●"/>
            </a:pPr>
            <a:r>
              <a:rPr lang="en" sz="1700">
                <a:solidFill>
                  <a:schemeClr val="lt2"/>
                </a:solidFill>
              </a:rPr>
              <a:t>The script was successful</a:t>
            </a:r>
            <a:endParaRPr sz="1700">
              <a:solidFill>
                <a:schemeClr val="lt2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Char char="●"/>
            </a:pPr>
            <a:r>
              <a:rPr lang="en" sz="1700">
                <a:solidFill>
                  <a:schemeClr val="lt2"/>
                </a:solidFill>
              </a:rPr>
              <a:t>Most entries were of HST, which makes me believe that the model is biased</a:t>
            </a:r>
            <a:endParaRPr sz="1700">
              <a:solidFill>
                <a:schemeClr val="lt2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Char char="●"/>
            </a:pPr>
            <a:r>
              <a:rPr lang="en" sz="1700">
                <a:solidFill>
                  <a:schemeClr val="lt2"/>
                </a:solidFill>
              </a:rPr>
              <a:t>SoMe has an already established 161 item scale</a:t>
            </a:r>
            <a:endParaRPr sz="1700">
              <a:solidFill>
                <a:schemeClr val="lt2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Char char="●"/>
            </a:pPr>
            <a:r>
              <a:rPr lang="en" sz="1700">
                <a:solidFill>
                  <a:schemeClr val="lt2"/>
                </a:solidFill>
              </a:rPr>
              <a:t>I will retrain a model with these items as the core.</a:t>
            </a:r>
            <a:endParaRPr sz="1700">
              <a:solidFill>
                <a:schemeClr val="lt2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Char char="●"/>
            </a:pPr>
            <a:r>
              <a:rPr lang="en" sz="1700">
                <a:solidFill>
                  <a:schemeClr val="lt2"/>
                </a:solidFill>
              </a:rPr>
              <a:t>Not one but multiple peoples diaries will be included for the iterative training process, representing all SoMe c</a:t>
            </a:r>
            <a:r>
              <a:rPr lang="en" sz="1700">
                <a:solidFill>
                  <a:schemeClr val="lt2"/>
                </a:solidFill>
              </a:rPr>
              <a:t>ategories</a:t>
            </a:r>
            <a:endParaRPr sz="1700">
              <a:solidFill>
                <a:schemeClr val="lt2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Char char="●"/>
            </a:pPr>
            <a:r>
              <a:rPr lang="en" sz="1700">
                <a:solidFill>
                  <a:schemeClr val="lt2"/>
                </a:solidFill>
              </a:rPr>
              <a:t>Another person’s diary will be used as the test set</a:t>
            </a:r>
            <a:endParaRPr sz="1700">
              <a:solidFill>
                <a:schemeClr val="lt2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Char char="●"/>
            </a:pPr>
            <a:r>
              <a:rPr lang="en" sz="1700">
                <a:solidFill>
                  <a:schemeClr val="lt2"/>
                </a:solidFill>
              </a:rPr>
              <a:t>The final result is hoped to be a universal SoMe extraction model.</a:t>
            </a:r>
            <a:endParaRPr sz="1700">
              <a:solidFill>
                <a:schemeClr val="lt2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Char char="●"/>
            </a:pPr>
            <a:r>
              <a:rPr lang="en" sz="1700">
                <a:solidFill>
                  <a:schemeClr val="lt2"/>
                </a:solidFill>
              </a:rPr>
              <a:t>The model then be used on the time-stamped diary data for an N=1 dynamic network analysis.</a:t>
            </a:r>
            <a:endParaRPr sz="17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